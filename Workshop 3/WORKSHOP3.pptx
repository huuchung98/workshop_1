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62" r:id="rId6"/>
    <p:sldId id="258" r:id="rId7"/>
    <p:sldId id="259" r:id="rId8"/>
    <p:sldId id="260" r:id="rId9"/>
    <p:sldId id="261" r:id="rId10"/>
    <p:sldId id="263" r:id="rId11"/>
  </p:sldIdLst>
  <p:sldSz cx="15240000" cy="8572500"/>
  <p:notesSz cx="6858000" cy="9144000"/>
  <p:embeddedFontLst>
    <p:embeddedFont>
      <p:font typeface="BR Omega VN 1" panose="020B0604020202020204" charset="0"/>
      <p:regular r:id="rId12"/>
    </p:embeddedFont>
    <p:embeddedFont>
      <p:font typeface="BR Omega VN 2 Bold" panose="020B0604020202020204" charset="0"/>
      <p:regular r:id="rId13"/>
      <p:bold r:id="rId14"/>
    </p:embeddedFont>
    <p:embeddedFont>
      <p:font typeface="Noto Sans Bold" panose="020B0802040504020204" pitchFamily="34" charset="0"/>
      <p:regular r:id="rId15"/>
      <p:bold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old" panose="00000800000000000000" pitchFamily="2" charset="0"/>
      <p:regular r:id="rId21"/>
      <p:bold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56A75-757F-5191-CC0D-D63B7BBEAAF7}" v="1" dt="2025-07-01T02:20:30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57" r="-18758" b="-62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038307" y="2946458"/>
            <a:ext cx="7493709" cy="5612049"/>
          </a:xfrm>
          <a:custGeom>
            <a:avLst/>
            <a:gdLst/>
            <a:ahLst/>
            <a:cxnLst/>
            <a:rect l="l" t="t" r="r" b="b"/>
            <a:pathLst>
              <a:path w="9163523" h="5635567">
                <a:moveTo>
                  <a:pt x="0" y="0"/>
                </a:moveTo>
                <a:lnTo>
                  <a:pt x="9163523" y="0"/>
                </a:lnTo>
                <a:lnTo>
                  <a:pt x="9163523" y="5635567"/>
                </a:lnTo>
                <a:lnTo>
                  <a:pt x="0" y="5635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57250" y="857250"/>
            <a:ext cx="1978050" cy="759334"/>
          </a:xfrm>
          <a:custGeom>
            <a:avLst/>
            <a:gdLst/>
            <a:ahLst/>
            <a:cxnLst/>
            <a:rect l="l" t="t" r="r" b="b"/>
            <a:pathLst>
              <a:path w="1978050" h="759334">
                <a:moveTo>
                  <a:pt x="0" y="0"/>
                </a:moveTo>
                <a:lnTo>
                  <a:pt x="1978050" y="0"/>
                </a:lnTo>
                <a:lnTo>
                  <a:pt x="1978050" y="759334"/>
                </a:lnTo>
                <a:lnTo>
                  <a:pt x="0" y="759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57250" y="7238971"/>
            <a:ext cx="2206154" cy="680736"/>
            <a:chOff x="0" y="0"/>
            <a:chExt cx="697254" cy="2151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7254" cy="215146"/>
            </a:xfrm>
            <a:custGeom>
              <a:avLst/>
              <a:gdLst/>
              <a:ahLst/>
              <a:cxnLst/>
              <a:rect l="l" t="t" r="r" b="b"/>
              <a:pathLst>
                <a:path w="697254" h="215146">
                  <a:moveTo>
                    <a:pt x="107573" y="0"/>
                  </a:moveTo>
                  <a:lnTo>
                    <a:pt x="589681" y="0"/>
                  </a:lnTo>
                  <a:cubicBezTo>
                    <a:pt x="618211" y="0"/>
                    <a:pt x="645572" y="11334"/>
                    <a:pt x="665746" y="31507"/>
                  </a:cubicBezTo>
                  <a:cubicBezTo>
                    <a:pt x="685920" y="51681"/>
                    <a:pt x="697254" y="79043"/>
                    <a:pt x="697254" y="107573"/>
                  </a:cubicBezTo>
                  <a:lnTo>
                    <a:pt x="697254" y="107573"/>
                  </a:lnTo>
                  <a:cubicBezTo>
                    <a:pt x="697254" y="166984"/>
                    <a:pt x="649091" y="215146"/>
                    <a:pt x="589681" y="215146"/>
                  </a:cubicBezTo>
                  <a:lnTo>
                    <a:pt x="107573" y="215146"/>
                  </a:lnTo>
                  <a:cubicBezTo>
                    <a:pt x="79043" y="215146"/>
                    <a:pt x="51681" y="203813"/>
                    <a:pt x="31507" y="183639"/>
                  </a:cubicBezTo>
                  <a:cubicBezTo>
                    <a:pt x="11334" y="163465"/>
                    <a:pt x="0" y="136103"/>
                    <a:pt x="0" y="107573"/>
                  </a:cubicBezTo>
                  <a:lnTo>
                    <a:pt x="0" y="107573"/>
                  </a:lnTo>
                  <a:cubicBezTo>
                    <a:pt x="0" y="79043"/>
                    <a:pt x="11334" y="51681"/>
                    <a:pt x="31507" y="31507"/>
                  </a:cubicBezTo>
                  <a:cubicBezTo>
                    <a:pt x="51681" y="11334"/>
                    <a:pt x="79043" y="0"/>
                    <a:pt x="107573" y="0"/>
                  </a:cubicBezTo>
                  <a:close/>
                </a:path>
              </a:pathLst>
            </a:custGeom>
            <a:solidFill>
              <a:srgbClr val="72E5FF">
                <a:alpha val="5568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97254" cy="262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7238971"/>
            <a:ext cx="2206154" cy="680736"/>
            <a:chOff x="0" y="0"/>
            <a:chExt cx="697254" cy="2151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254" cy="215146"/>
            </a:xfrm>
            <a:custGeom>
              <a:avLst/>
              <a:gdLst/>
              <a:ahLst/>
              <a:cxnLst/>
              <a:rect l="l" t="t" r="r" b="b"/>
              <a:pathLst>
                <a:path w="697254" h="215146">
                  <a:moveTo>
                    <a:pt x="107573" y="0"/>
                  </a:moveTo>
                  <a:lnTo>
                    <a:pt x="589681" y="0"/>
                  </a:lnTo>
                  <a:cubicBezTo>
                    <a:pt x="618211" y="0"/>
                    <a:pt x="645572" y="11334"/>
                    <a:pt x="665746" y="31507"/>
                  </a:cubicBezTo>
                  <a:cubicBezTo>
                    <a:pt x="685920" y="51681"/>
                    <a:pt x="697254" y="79043"/>
                    <a:pt x="697254" y="107573"/>
                  </a:cubicBezTo>
                  <a:lnTo>
                    <a:pt x="697254" y="107573"/>
                  </a:lnTo>
                  <a:cubicBezTo>
                    <a:pt x="697254" y="166984"/>
                    <a:pt x="649091" y="215146"/>
                    <a:pt x="589681" y="215146"/>
                  </a:cubicBezTo>
                  <a:lnTo>
                    <a:pt x="107573" y="215146"/>
                  </a:lnTo>
                  <a:cubicBezTo>
                    <a:pt x="79043" y="215146"/>
                    <a:pt x="51681" y="203813"/>
                    <a:pt x="31507" y="183639"/>
                  </a:cubicBezTo>
                  <a:cubicBezTo>
                    <a:pt x="11334" y="163465"/>
                    <a:pt x="0" y="136103"/>
                    <a:pt x="0" y="107573"/>
                  </a:cubicBezTo>
                  <a:lnTo>
                    <a:pt x="0" y="107573"/>
                  </a:lnTo>
                  <a:cubicBezTo>
                    <a:pt x="0" y="79043"/>
                    <a:pt x="11334" y="51681"/>
                    <a:pt x="31507" y="31507"/>
                  </a:cubicBezTo>
                  <a:cubicBezTo>
                    <a:pt x="51681" y="11334"/>
                    <a:pt x="79043" y="0"/>
                    <a:pt x="1075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72E5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97254" cy="262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619576" y="352891"/>
            <a:ext cx="1193491" cy="942858"/>
          </a:xfrm>
          <a:custGeom>
            <a:avLst/>
            <a:gdLst/>
            <a:ahLst/>
            <a:cxnLst/>
            <a:rect l="l" t="t" r="r" b="b"/>
            <a:pathLst>
              <a:path w="1193491" h="942858">
                <a:moveTo>
                  <a:pt x="0" y="0"/>
                </a:moveTo>
                <a:lnTo>
                  <a:pt x="1193491" y="0"/>
                </a:lnTo>
                <a:lnTo>
                  <a:pt x="1193491" y="942858"/>
                </a:lnTo>
                <a:lnTo>
                  <a:pt x="0" y="942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31995" y="7410407"/>
            <a:ext cx="564921" cy="34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008">
                <a:solidFill>
                  <a:srgbClr val="FFFFFF"/>
                </a:solidFill>
                <a:latin typeface="BR Omega VN 1"/>
                <a:ea typeface="BR Omega VN 1"/>
                <a:cs typeface="BR Omega VN 1"/>
                <a:sym typeface="BR Omega VN 1"/>
              </a:rPr>
              <a:t>Date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4983" y="2807147"/>
            <a:ext cx="10852841" cy="2404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17"/>
              </a:lnSpc>
            </a:pPr>
            <a:r>
              <a:rPr lang="en-US" sz="4900" b="1" dirty="0">
                <a:solidFill>
                  <a:schemeClr val="bg1"/>
                </a:solidFill>
                <a:latin typeface="Times New Roman"/>
                <a:ea typeface="BR Omega VN 2 Bold"/>
                <a:cs typeface="BR Omega VN 2 Bold"/>
                <a:sym typeface="BR Omega VN 2 Bold"/>
              </a:rPr>
              <a:t>🚀 </a:t>
            </a:r>
            <a:r>
              <a:rPr lang="en-US" sz="4900" b="1" dirty="0">
                <a:solidFill>
                  <a:schemeClr val="bg1"/>
                </a:solidFill>
                <a:latin typeface="Times New Roman"/>
                <a:ea typeface="BR Omega VN 2 Bold"/>
                <a:cs typeface="Times New Roman"/>
                <a:sym typeface="BR Omega VN 2 Bold"/>
              </a:rPr>
              <a:t>Workshop 3: Building a Chatbot System Using </a:t>
            </a:r>
            <a:r>
              <a:rPr lang="en-US" sz="4900" b="1" dirty="0" err="1">
                <a:solidFill>
                  <a:schemeClr val="bg1"/>
                </a:solidFill>
                <a:latin typeface="Times New Roman"/>
                <a:ea typeface="BR Omega VN 2 Bold"/>
                <a:cs typeface="Times New Roman"/>
                <a:sym typeface="BR Omega VN 2 Bold"/>
              </a:rPr>
              <a:t>ChromaDB</a:t>
            </a:r>
            <a:r>
              <a:rPr lang="en-US" sz="4900" b="1" dirty="0">
                <a:solidFill>
                  <a:schemeClr val="bg1"/>
                </a:solidFill>
                <a:latin typeface="Times New Roman"/>
                <a:ea typeface="BR Omega VN 2 Bold"/>
                <a:cs typeface="Times New Roman"/>
                <a:sym typeface="BR Omega VN 2 Bold"/>
              </a:rPr>
              <a:t>, OpenAI SDK, </a:t>
            </a:r>
            <a:r>
              <a:rPr lang="en-US" sz="4900" b="1" dirty="0" err="1">
                <a:solidFill>
                  <a:schemeClr val="bg1"/>
                </a:solidFill>
                <a:latin typeface="Times New Roman"/>
                <a:ea typeface="BR Omega VN 2 Bold"/>
                <a:cs typeface="Times New Roman"/>
                <a:sym typeface="BR Omega VN 2 Bold"/>
              </a:rPr>
              <a:t>HuggingFace</a:t>
            </a:r>
            <a:r>
              <a:rPr lang="en-US" sz="4900" b="1" dirty="0">
                <a:solidFill>
                  <a:schemeClr val="bg1"/>
                </a:solidFill>
                <a:latin typeface="Times New Roman"/>
                <a:ea typeface="BR Omega VN 2 Bold"/>
                <a:cs typeface="Times New Roman"/>
                <a:sym typeface="BR Omega VN 2 Bold"/>
              </a:rPr>
              <a:t> Text-to -Speech</a:t>
            </a:r>
            <a:endParaRPr lang="en-US" sz="49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7216" y="1726747"/>
            <a:ext cx="1355404" cy="5647519"/>
          </a:xfrm>
          <a:custGeom>
            <a:avLst/>
            <a:gdLst/>
            <a:ahLst/>
            <a:cxnLst/>
            <a:rect l="l" t="t" r="r" b="b"/>
            <a:pathLst>
              <a:path w="1355404" h="5647519">
                <a:moveTo>
                  <a:pt x="0" y="0"/>
                </a:moveTo>
                <a:lnTo>
                  <a:pt x="1355404" y="0"/>
                </a:lnTo>
                <a:lnTo>
                  <a:pt x="1355404" y="5647519"/>
                </a:lnTo>
                <a:lnTo>
                  <a:pt x="0" y="564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30000"/>
              </a:lnSpc>
            </a:pP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7694" y="2176513"/>
            <a:ext cx="5279157" cy="3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Stabilize seats for Trainees, take attendance 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17694" y="2896588"/>
            <a:ext cx="7929971" cy="694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Share artifact files with Trainees . Describes the problem statement, deployment format, desired output.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17694" y="3877499"/>
            <a:ext cx="7980701" cy="694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Trainees: Discuss and implement  Submit all to SharePoint 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Trainer:  Rotate multiple groups to support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61362" y="4729439"/>
            <a:ext cx="1565151" cy="33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Lunch Break 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17694" y="5628543"/>
            <a:ext cx="1511796" cy="33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6497" y="6482619"/>
            <a:ext cx="5484768" cy="332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Workshop Summary</a:t>
            </a:r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617440" y="2160003"/>
            <a:ext cx="1333143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9:00 – 9:10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9346" y="3037240"/>
            <a:ext cx="1321237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9:10 – 9:30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9306" y="4018151"/>
            <a:ext cx="1641277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09:30 – 12:00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0028" y="4712929"/>
            <a:ext cx="1580555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12:00 – 13:00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0502" y="5628543"/>
            <a:ext cx="1600081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13:00 – 15:50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2406" y="6482619"/>
            <a:ext cx="1608177" cy="37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15:50 – 16:00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0"/>
            <a:ext cx="15240000" cy="1342990"/>
          </a:xfrm>
          <a:custGeom>
            <a:avLst/>
            <a:gdLst/>
            <a:ahLst/>
            <a:cxnLst/>
            <a:rect l="l" t="t" r="r" b="b"/>
            <a:pathLst>
              <a:path w="15240000" h="1342990">
                <a:moveTo>
                  <a:pt x="0" y="0"/>
                </a:moveTo>
                <a:lnTo>
                  <a:pt x="15240000" y="0"/>
                </a:lnTo>
                <a:lnTo>
                  <a:pt x="15240000" y="1342990"/>
                </a:lnTo>
                <a:lnTo>
                  <a:pt x="0" y="1342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323" r="-27255" b="-94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57182" y="383757"/>
            <a:ext cx="3582985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4712" b="1" dirty="0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📋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F861CF95-4EE4-34FE-56B7-2999B814E58E}"/>
              </a:ext>
            </a:extLst>
          </p:cNvPr>
          <p:cNvSpPr/>
          <p:nvPr/>
        </p:nvSpPr>
        <p:spPr>
          <a:xfrm>
            <a:off x="3868025" y="1626729"/>
            <a:ext cx="8289698" cy="1511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7CF082CD-D246-E3D1-50B2-8B71309EFF5E}"/>
              </a:ext>
            </a:extLst>
          </p:cNvPr>
          <p:cNvSpPr/>
          <p:nvPr/>
        </p:nvSpPr>
        <p:spPr>
          <a:xfrm>
            <a:off x="8013631" y="6459810"/>
            <a:ext cx="4877198" cy="1376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6BE79C77-594F-0016-B68A-5AC2EFE517D8}"/>
              </a:ext>
            </a:extLst>
          </p:cNvPr>
          <p:cNvSpPr/>
          <p:nvPr/>
        </p:nvSpPr>
        <p:spPr>
          <a:xfrm>
            <a:off x="2589992" y="6489358"/>
            <a:ext cx="4877198" cy="1376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01E10635-07C3-E6D4-3894-5A7652F2E0AE}"/>
              </a:ext>
            </a:extLst>
          </p:cNvPr>
          <p:cNvSpPr/>
          <p:nvPr/>
        </p:nvSpPr>
        <p:spPr>
          <a:xfrm>
            <a:off x="8012885" y="4319679"/>
            <a:ext cx="4877198" cy="1376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0E6F0739-A142-CE36-31C6-A33476FBD134}"/>
              </a:ext>
            </a:extLst>
          </p:cNvPr>
          <p:cNvSpPr/>
          <p:nvPr/>
        </p:nvSpPr>
        <p:spPr>
          <a:xfrm>
            <a:off x="2589246" y="4319306"/>
            <a:ext cx="4877198" cy="1376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5240000" cy="1342990"/>
          </a:xfrm>
          <a:custGeom>
            <a:avLst/>
            <a:gdLst/>
            <a:ahLst/>
            <a:cxnLst/>
            <a:rect l="l" t="t" r="r" b="b"/>
            <a:pathLst>
              <a:path w="15240000" h="1342990">
                <a:moveTo>
                  <a:pt x="0" y="0"/>
                </a:moveTo>
                <a:lnTo>
                  <a:pt x="15240000" y="0"/>
                </a:lnTo>
                <a:lnTo>
                  <a:pt x="15240000" y="1342990"/>
                </a:lnTo>
                <a:lnTo>
                  <a:pt x="0" y="134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323" r="-27255" b="-94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13382" y="2008108"/>
            <a:ext cx="799898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500" b="1" dirty="0">
                <a:latin typeface="Poppins Bold"/>
                <a:cs typeface="Segoe UI"/>
                <a:sym typeface="Poppins"/>
              </a:rPr>
              <a:t>Build a chatbot system that integrates all these technologies</a:t>
            </a:r>
            <a:endParaRPr lang="en-US" sz="2500" dirty="0">
              <a:latin typeface="Poppins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7709" y="379760"/>
            <a:ext cx="9796465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4712" b="1" dirty="0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 🎯 Workshop Objective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DB4FCA0-F5A8-B3FD-D141-324665888736}"/>
              </a:ext>
            </a:extLst>
          </p:cNvPr>
          <p:cNvSpPr txBox="1"/>
          <p:nvPr/>
        </p:nvSpPr>
        <p:spPr>
          <a:xfrm>
            <a:off x="2878636" y="3421855"/>
            <a:ext cx="3643238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7CB58A"/>
                </a:solidFill>
                <a:latin typeface="Poppins Bold"/>
                <a:ea typeface="Poppins Bold"/>
                <a:cs typeface="Poppins Bold"/>
                <a:sym typeface="Poppins Bold"/>
              </a:rPr>
              <a:t>What you'll learn: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60AF26B-6844-C4C9-AC8E-E76BD245EF52}"/>
              </a:ext>
            </a:extLst>
          </p:cNvPr>
          <p:cNvSpPr txBox="1"/>
          <p:nvPr/>
        </p:nvSpPr>
        <p:spPr>
          <a:xfrm>
            <a:off x="2890950" y="4661393"/>
            <a:ext cx="3961723" cy="70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🔗 Integrate Azure OpenAI's API with Python code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15869E6-EB1C-D272-E0F9-3DAD85FD928A}"/>
              </a:ext>
            </a:extLst>
          </p:cNvPr>
          <p:cNvSpPr txBox="1"/>
          <p:nvPr/>
        </p:nvSpPr>
        <p:spPr>
          <a:xfrm>
            <a:off x="8012874" y="4712241"/>
            <a:ext cx="4888681" cy="649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565"/>
              </a:lnSpc>
              <a:spcBef>
                <a:spcPct val="0"/>
              </a:spcBef>
            </a:pPr>
            <a:r>
              <a:rPr lang="en-US" sz="183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⚡ </a:t>
            </a:r>
            <a:r>
              <a:rPr lang="en-US" sz="1999" b="1" dirty="0">
                <a:solidFill>
                  <a:srgbClr val="000000"/>
                </a:solidFill>
                <a:latin typeface="Poppins Bold"/>
                <a:cs typeface="Poppins Bold"/>
                <a:sym typeface="Poppins Bold"/>
              </a:rPr>
              <a:t>Automate text generation, summarization, or other processes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8305246F-6CBD-9A58-8ADB-8AE8A74012CF}"/>
              </a:ext>
            </a:extLst>
          </p:cNvPr>
          <p:cNvSpPr txBox="1"/>
          <p:nvPr/>
        </p:nvSpPr>
        <p:spPr>
          <a:xfrm>
            <a:off x="3131586" y="6774760"/>
            <a:ext cx="3907441" cy="700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🤖 Build useful assistants for various tasks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04BEC3CC-901D-7C58-EB4C-B854ED136DCF}"/>
              </a:ext>
            </a:extLst>
          </p:cNvPr>
          <p:cNvSpPr txBox="1"/>
          <p:nvPr/>
        </p:nvSpPr>
        <p:spPr>
          <a:xfrm>
            <a:off x="8285142" y="6978982"/>
            <a:ext cx="4604941" cy="338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📝 Handle prompts effectively</a:t>
            </a:r>
            <a:endParaRPr lang="en-US" sz="2000" b="1" dirty="0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1342990"/>
          </a:xfrm>
          <a:custGeom>
            <a:avLst/>
            <a:gdLst/>
            <a:ahLst/>
            <a:cxnLst/>
            <a:rect l="l" t="t" r="r" b="b"/>
            <a:pathLst>
              <a:path w="15240000" h="1342990">
                <a:moveTo>
                  <a:pt x="0" y="0"/>
                </a:moveTo>
                <a:lnTo>
                  <a:pt x="15240000" y="0"/>
                </a:lnTo>
                <a:lnTo>
                  <a:pt x="15240000" y="1342990"/>
                </a:lnTo>
                <a:lnTo>
                  <a:pt x="0" y="134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323" r="-27255" b="-94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1473" y="2727563"/>
            <a:ext cx="6096000" cy="1596044"/>
          </a:xfrm>
          <a:custGeom>
            <a:avLst/>
            <a:gdLst/>
            <a:ahLst/>
            <a:cxnLst/>
            <a:rect l="l" t="t" r="r" b="b"/>
            <a:pathLst>
              <a:path w="6096000" h="1596044">
                <a:moveTo>
                  <a:pt x="0" y="0"/>
                </a:moveTo>
                <a:lnTo>
                  <a:pt x="6096000" y="0"/>
                </a:lnTo>
                <a:lnTo>
                  <a:pt x="6096000" y="1596044"/>
                </a:lnTo>
                <a:lnTo>
                  <a:pt x="0" y="1596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69316" y="1697675"/>
            <a:ext cx="11206129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9"/>
              </a:lnSpc>
            </a:pPr>
            <a:r>
              <a:rPr lang="en-US" sz="3292" b="1" dirty="0">
                <a:solidFill>
                  <a:srgbClr val="1317D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One or Define Your Own:</a:t>
            </a:r>
            <a:endParaRPr lang="vi-VN" dirty="0">
              <a:latin typeface="Arial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432232" y="2727563"/>
            <a:ext cx="6096000" cy="1596044"/>
          </a:xfrm>
          <a:custGeom>
            <a:avLst/>
            <a:gdLst/>
            <a:ahLst/>
            <a:cxnLst/>
            <a:rect l="l" t="t" r="r" b="b"/>
            <a:pathLst>
              <a:path w="6096000" h="1596044">
                <a:moveTo>
                  <a:pt x="0" y="0"/>
                </a:moveTo>
                <a:lnTo>
                  <a:pt x="6096000" y="0"/>
                </a:lnTo>
                <a:lnTo>
                  <a:pt x="6096000" y="1596044"/>
                </a:lnTo>
                <a:lnTo>
                  <a:pt x="0" y="1596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71473" y="5336436"/>
            <a:ext cx="6096000" cy="1596044"/>
          </a:xfrm>
          <a:custGeom>
            <a:avLst/>
            <a:gdLst/>
            <a:ahLst/>
            <a:cxnLst/>
            <a:rect l="l" t="t" r="r" b="b"/>
            <a:pathLst>
              <a:path w="6096000" h="1596044">
                <a:moveTo>
                  <a:pt x="0" y="0"/>
                </a:moveTo>
                <a:lnTo>
                  <a:pt x="6096000" y="0"/>
                </a:lnTo>
                <a:lnTo>
                  <a:pt x="6096000" y="1596043"/>
                </a:lnTo>
                <a:lnTo>
                  <a:pt x="0" y="1596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432232" y="5336436"/>
            <a:ext cx="6096000" cy="1596044"/>
          </a:xfrm>
          <a:custGeom>
            <a:avLst/>
            <a:gdLst/>
            <a:ahLst/>
            <a:cxnLst/>
            <a:rect l="l" t="t" r="r" b="b"/>
            <a:pathLst>
              <a:path w="6096000" h="1596044">
                <a:moveTo>
                  <a:pt x="0" y="0"/>
                </a:moveTo>
                <a:lnTo>
                  <a:pt x="6096000" y="0"/>
                </a:lnTo>
                <a:lnTo>
                  <a:pt x="6096000" y="1596043"/>
                </a:lnTo>
                <a:lnTo>
                  <a:pt x="0" y="1596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71473" y="376213"/>
            <a:ext cx="10439418" cy="133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4712" b="1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💼 Application Options</a:t>
            </a:r>
          </a:p>
          <a:p>
            <a:pPr algn="l">
              <a:lnSpc>
                <a:spcPts val="5230"/>
              </a:lnSpc>
            </a:pPr>
            <a:endParaRPr lang="en-US" sz="4712" b="1">
              <a:solidFill>
                <a:srgbClr val="FFFFFF"/>
              </a:solidFill>
              <a:latin typeface="BR Omega VN 2 Bold"/>
              <a:ea typeface="BR Omega VN 2 Bold"/>
              <a:cs typeface="BR Omega VN 2 Bold"/>
              <a:sym typeface="BR Omega VN 2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2958" y="2924911"/>
            <a:ext cx="5353030" cy="11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🎧</a:t>
            </a:r>
            <a:r>
              <a:rPr lang="en-US" sz="2000" b="1" dirty="0">
                <a:latin typeface="Poppins Bold"/>
                <a:cs typeface="Segoe UI"/>
                <a:sym typeface="Poppins Bold"/>
              </a:rPr>
              <a:t> Customer Support</a:t>
            </a:r>
            <a:endParaRPr lang="vi-VN" sz="2000" b="1" dirty="0">
              <a:latin typeface="Arial"/>
              <a:cs typeface="Arial"/>
            </a:endParaRPr>
          </a:p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Responds to queries and speaks answers aloud</a:t>
            </a:r>
            <a:endParaRPr lang="en-US" sz="2000" b="1" dirty="0"/>
          </a:p>
        </p:txBody>
      </p:sp>
      <p:sp>
        <p:nvSpPr>
          <p:cNvPr id="11" name="TextBox 11"/>
          <p:cNvSpPr txBox="1"/>
          <p:nvPr/>
        </p:nvSpPr>
        <p:spPr>
          <a:xfrm>
            <a:off x="471473" y="5555131"/>
            <a:ext cx="6096000" cy="115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🎬</a:t>
            </a:r>
            <a:r>
              <a:rPr lang="en-US" sz="2000" b="1" dirty="0">
                <a:latin typeface="Poppins Bold"/>
                <a:cs typeface="Segoe UI"/>
                <a:sym typeface="Poppins Bold"/>
              </a:rPr>
              <a:t> Entertainment Recommender</a:t>
            </a:r>
            <a:endParaRPr lang="vi-VN" sz="2000" b="1" dirty="0">
              <a:latin typeface="Arial"/>
              <a:cs typeface="Arial"/>
            </a:endParaRPr>
          </a:p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Suggests movies/shows with spoken recommendations</a:t>
            </a:r>
            <a:endParaRPr lang="vi-VN" sz="2000" b="1" dirty="0"/>
          </a:p>
        </p:txBody>
      </p:sp>
      <p:sp>
        <p:nvSpPr>
          <p:cNvPr id="12" name="TextBox 12"/>
          <p:cNvSpPr txBox="1"/>
          <p:nvPr/>
        </p:nvSpPr>
        <p:spPr>
          <a:xfrm>
            <a:off x="8641650" y="2935954"/>
            <a:ext cx="5893500" cy="1107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900" dirty="0">
                <a:solidFill>
                  <a:srgbClr val="FFFFFF"/>
                </a:solidFill>
                <a:latin typeface="Poppins Bold"/>
                <a:cs typeface="Segoe UI"/>
                <a:sym typeface="Poppins Bold"/>
              </a:rPr>
              <a:t>📚 </a:t>
            </a:r>
            <a:r>
              <a:rPr lang="en-US" sz="1900" dirty="0">
                <a:latin typeface="Poppins Bold"/>
                <a:cs typeface="Segoe UI"/>
                <a:sym typeface="Poppins Bold"/>
              </a:rPr>
              <a:t>Educational Tutor</a:t>
            </a:r>
            <a:endParaRPr lang="vi-VN" sz="1900" dirty="0">
              <a:latin typeface="Arial"/>
              <a:cs typeface="Arial"/>
            </a:endParaRPr>
          </a:p>
          <a:p>
            <a:pPr algn="ctr">
              <a:lnSpc>
                <a:spcPct val="130000"/>
              </a:lnSpc>
            </a:pPr>
            <a:r>
              <a:rPr lang="en-US" sz="1900" b="1" dirty="0">
                <a:latin typeface="Segoe UI"/>
                <a:cs typeface="Segoe UI"/>
                <a:sym typeface="Poppins Bold"/>
              </a:rPr>
              <a:t>Answers student questions with audible explanations</a:t>
            </a:r>
            <a:endParaRPr lang="en-US" sz="1900" b="1" dirty="0">
              <a:ea typeface="Calibri"/>
              <a:cs typeface="Calibr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41650" y="5551085"/>
            <a:ext cx="5645850" cy="1169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🌍 </a:t>
            </a:r>
            <a:r>
              <a:rPr lang="en-US" sz="2000" b="1" dirty="0">
                <a:latin typeface="Poppins Bold"/>
                <a:cs typeface="Segoe UI"/>
                <a:sym typeface="Poppins Bold"/>
              </a:rPr>
              <a:t>Language Learning Assistant</a:t>
            </a:r>
            <a:endParaRPr lang="vi-VN" sz="2000" b="1" dirty="0">
              <a:latin typeface="Arial"/>
              <a:cs typeface="Arial"/>
            </a:endParaRPr>
          </a:p>
          <a:p>
            <a:pPr algn="ctr">
              <a:lnSpc>
                <a:spcPct val="130000"/>
              </a:lnSpc>
            </a:pPr>
            <a:r>
              <a:rPr lang="en-US" sz="2000" b="1" dirty="0">
                <a:latin typeface="Segoe UI"/>
                <a:cs typeface="Segoe UI"/>
                <a:sym typeface="Poppins Bold"/>
              </a:rPr>
              <a:t>Helps learning with</a:t>
            </a:r>
            <a:r>
              <a:rPr lang="en-US" sz="2000" b="1" dirty="0">
                <a:latin typeface="Segoe UI"/>
                <a:cs typeface="Segoe UI"/>
              </a:rPr>
              <a:t> responses in target language</a:t>
            </a:r>
            <a:endParaRPr lang="en-US" sz="2000" b="1" dirty="0">
              <a:latin typeface="Poppins Bold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1342990"/>
          </a:xfrm>
          <a:custGeom>
            <a:avLst/>
            <a:gdLst/>
            <a:ahLst/>
            <a:cxnLst/>
            <a:rect l="l" t="t" r="r" b="b"/>
            <a:pathLst>
              <a:path w="15240000" h="1342990">
                <a:moveTo>
                  <a:pt x="0" y="0"/>
                </a:moveTo>
                <a:lnTo>
                  <a:pt x="15240000" y="0"/>
                </a:lnTo>
                <a:lnTo>
                  <a:pt x="15240000" y="1342990"/>
                </a:lnTo>
                <a:lnTo>
                  <a:pt x="0" y="134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323" r="-27255" b="-94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8610" y="433552"/>
            <a:ext cx="1211581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4712" b="1" dirty="0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🛠️ AI Tools Usage Guidelines</a:t>
            </a:r>
          </a:p>
        </p:txBody>
      </p:sp>
      <p:pic>
        <p:nvPicPr>
          <p:cNvPr id="9" name="Hình ảnh 8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6B815A5C-E6B5-DEED-2A36-DD5EE25B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908" y="1524661"/>
            <a:ext cx="10259461" cy="70408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0000" cy="1342990"/>
          </a:xfrm>
          <a:custGeom>
            <a:avLst/>
            <a:gdLst/>
            <a:ahLst/>
            <a:cxnLst/>
            <a:rect l="l" t="t" r="r" b="b"/>
            <a:pathLst>
              <a:path w="15240000" h="1342990">
                <a:moveTo>
                  <a:pt x="0" y="0"/>
                </a:moveTo>
                <a:lnTo>
                  <a:pt x="15240000" y="0"/>
                </a:lnTo>
                <a:lnTo>
                  <a:pt x="15240000" y="1342990"/>
                </a:lnTo>
                <a:lnTo>
                  <a:pt x="0" y="134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323" r="-27255" b="-947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05740" y="1571009"/>
            <a:ext cx="8930000" cy="1532813"/>
          </a:xfrm>
          <a:custGeom>
            <a:avLst/>
            <a:gdLst/>
            <a:ahLst/>
            <a:cxnLst/>
            <a:rect l="l" t="t" r="r" b="b"/>
            <a:pathLst>
              <a:path w="8430474" h="1532813">
                <a:moveTo>
                  <a:pt x="0" y="0"/>
                </a:moveTo>
                <a:lnTo>
                  <a:pt x="8430474" y="0"/>
                </a:lnTo>
                <a:lnTo>
                  <a:pt x="8430474" y="1532813"/>
                </a:lnTo>
                <a:lnTo>
                  <a:pt x="0" y="1532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0050" y="391056"/>
            <a:ext cx="1379221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4712" b="1" dirty="0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🎁 Deliverables by End of Workshop</a:t>
            </a:r>
          </a:p>
        </p:txBody>
      </p:sp>
      <p:sp>
        <p:nvSpPr>
          <p:cNvPr id="6" name="Freeform 6"/>
          <p:cNvSpPr/>
          <p:nvPr/>
        </p:nvSpPr>
        <p:spPr>
          <a:xfrm>
            <a:off x="2705740" y="3275991"/>
            <a:ext cx="8930000" cy="1532813"/>
          </a:xfrm>
          <a:custGeom>
            <a:avLst/>
            <a:gdLst/>
            <a:ahLst/>
            <a:cxnLst/>
            <a:rect l="l" t="t" r="r" b="b"/>
            <a:pathLst>
              <a:path w="8430474" h="1532813">
                <a:moveTo>
                  <a:pt x="0" y="0"/>
                </a:moveTo>
                <a:lnTo>
                  <a:pt x="8430474" y="0"/>
                </a:lnTo>
                <a:lnTo>
                  <a:pt x="8430474" y="1532814"/>
                </a:lnTo>
                <a:lnTo>
                  <a:pt x="0" y="153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705740" y="4980255"/>
            <a:ext cx="8930000" cy="1532813"/>
          </a:xfrm>
          <a:custGeom>
            <a:avLst/>
            <a:gdLst/>
            <a:ahLst/>
            <a:cxnLst/>
            <a:rect l="l" t="t" r="r" b="b"/>
            <a:pathLst>
              <a:path w="8430474" h="1532813">
                <a:moveTo>
                  <a:pt x="0" y="0"/>
                </a:moveTo>
                <a:lnTo>
                  <a:pt x="8430474" y="0"/>
                </a:lnTo>
                <a:lnTo>
                  <a:pt x="8430474" y="1532813"/>
                </a:lnTo>
                <a:lnTo>
                  <a:pt x="0" y="1532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05740" y="6684518"/>
            <a:ext cx="8930000" cy="1532813"/>
          </a:xfrm>
          <a:custGeom>
            <a:avLst/>
            <a:gdLst/>
            <a:ahLst/>
            <a:cxnLst/>
            <a:rect l="l" t="t" r="r" b="b"/>
            <a:pathLst>
              <a:path w="8430474" h="1532813">
                <a:moveTo>
                  <a:pt x="0" y="0"/>
                </a:moveTo>
                <a:lnTo>
                  <a:pt x="8430474" y="0"/>
                </a:lnTo>
                <a:lnTo>
                  <a:pt x="8430474" y="1532813"/>
                </a:lnTo>
                <a:lnTo>
                  <a:pt x="0" y="1532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705740" y="1918040"/>
            <a:ext cx="8786234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  <a:sym typeface="Poppins Bold"/>
              </a:rPr>
              <a:t>🗄</a:t>
            </a:r>
            <a:r>
              <a:rPr lang="en-US" sz="2200" b="1" dirty="0">
                <a:solidFill>
                  <a:srgbClr val="FFFFFF"/>
                </a:solidFill>
                <a:latin typeface="Segoe UI"/>
                <a:cs typeface="Segoe UI"/>
                <a:sym typeface="Poppins Bold"/>
              </a:rPr>
              <a:t>️</a:t>
            </a:r>
            <a:r>
              <a:rPr lang="en-US" sz="2200" b="1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2200" b="1" dirty="0" err="1">
                <a:latin typeface="Segoe UI"/>
                <a:cs typeface="Segoe UI"/>
              </a:rPr>
              <a:t>ChromaDB</a:t>
            </a:r>
            <a:r>
              <a:rPr lang="en-US" sz="2200" b="1" dirty="0">
                <a:latin typeface="Segoe UI"/>
                <a:cs typeface="Segoe UI"/>
              </a:rPr>
              <a:t> Implementation</a:t>
            </a:r>
            <a:r>
              <a:rPr lang="en-US" sz="2200" dirty="0">
                <a:latin typeface="Segoe UI"/>
                <a:cs typeface="Segoe UI"/>
              </a:rPr>
              <a:t> - storing </a:t>
            </a:r>
            <a:r>
              <a:rPr lang="en-US" sz="2200" dirty="0">
                <a:latin typeface="Segoe UI"/>
                <a:cs typeface="Segoe UI"/>
                <a:sym typeface="Poppins Bold"/>
              </a:rPr>
              <a:t>mock data (user</a:t>
            </a:r>
            <a:r>
              <a:rPr lang="en-US" sz="2200" dirty="0">
                <a:latin typeface="Segoe UI"/>
                <a:cs typeface="Segoe UI"/>
              </a:rPr>
              <a:t> queries, FAQs, knowledge base)</a:t>
            </a:r>
            <a:endParaRPr lang="vi-VN" sz="2200" dirty="0">
              <a:latin typeface="Arial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87273" y="5168163"/>
            <a:ext cx="8067407" cy="12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latin typeface="Segoe UI"/>
                <a:cs typeface="Segoe UI"/>
                <a:sym typeface="Poppins Bold"/>
              </a:rPr>
              <a:t>💻 Working codebase</a:t>
            </a:r>
            <a:r>
              <a:rPr lang="en-US" sz="2200" dirty="0">
                <a:latin typeface="Segoe UI"/>
                <a:cs typeface="Segoe UI"/>
                <a:sym typeface="Poppins Bold"/>
              </a:rPr>
              <a:t> with a simple interface (CLI or web)</a:t>
            </a:r>
            <a:endParaRPr lang="en-US" sz="2200" dirty="0">
              <a:latin typeface="Segoe UI"/>
              <a:cs typeface="Segoe UI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latin typeface="Segoe UI"/>
                <a:cs typeface="Segoe UI"/>
              </a:rPr>
              <a:t>📝 Tested conversation logs</a:t>
            </a:r>
            <a:r>
              <a:rPr lang="en-US" sz="2200" dirty="0">
                <a:latin typeface="Segoe UI"/>
                <a:cs typeface="Segoe UI"/>
              </a:rPr>
              <a:t> demonstrating multi-turn interaction</a:t>
            </a:r>
            <a:endParaRPr lang="en-US" sz="2200" dirty="0">
              <a:ea typeface="Calibri"/>
              <a:cs typeface="Calibr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87273" y="3728989"/>
            <a:ext cx="8067407" cy="39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latin typeface="Segoe UI"/>
                <a:cs typeface="Segoe UI"/>
                <a:sym typeface="Poppins Bold"/>
              </a:rPr>
              <a:t>🔊 </a:t>
            </a:r>
            <a:r>
              <a:rPr lang="en-US" sz="2200" b="1" dirty="0" err="1">
                <a:latin typeface="Segoe UI"/>
                <a:cs typeface="Segoe UI"/>
                <a:sym typeface="Poppins Bold"/>
              </a:rPr>
              <a:t>HuggingFace</a:t>
            </a:r>
            <a:r>
              <a:rPr lang="en-US" sz="2200" b="1" dirty="0">
                <a:latin typeface="Segoe UI"/>
                <a:cs typeface="Segoe UI"/>
                <a:sym typeface="Poppins Bold"/>
              </a:rPr>
              <a:t> TTS</a:t>
            </a:r>
            <a:r>
              <a:rPr lang="en-US" sz="2200" dirty="0">
                <a:latin typeface="Segoe UI"/>
                <a:cs typeface="Segoe UI"/>
                <a:sym typeface="Poppins Bold"/>
              </a:rPr>
              <a:t> - converting responses into spoken audio</a:t>
            </a:r>
            <a:endParaRPr lang="vi-VN" sz="2200" dirty="0">
              <a:latin typeface="Arial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223260" y="7043877"/>
            <a:ext cx="7731419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200" b="1" dirty="0">
                <a:latin typeface="Segoe UI"/>
                <a:ea typeface="Poppins Bold"/>
                <a:cs typeface="Segoe UI"/>
                <a:sym typeface="Poppins Bold"/>
              </a:rPr>
              <a:t>🎤 Team presentation</a:t>
            </a:r>
            <a:r>
              <a:rPr lang="en-US" sz="2200" dirty="0">
                <a:latin typeface="Segoe UI"/>
                <a:ea typeface="Poppins Bold"/>
                <a:cs typeface="Segoe UI"/>
                <a:sym typeface="Poppins Bold"/>
              </a:rPr>
              <a:t> with demo, insights, and lessons learned</a:t>
            </a:r>
            <a:endParaRPr lang="vi-VN"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241678" cy="8572500"/>
          </a:xfrm>
          <a:custGeom>
            <a:avLst/>
            <a:gdLst/>
            <a:ahLst/>
            <a:cxnLst/>
            <a:rect l="l" t="t" r="r" b="b"/>
            <a:pathLst>
              <a:path w="15241678" h="8572500">
                <a:moveTo>
                  <a:pt x="0" y="0"/>
                </a:moveTo>
                <a:lnTo>
                  <a:pt x="15241678" y="0"/>
                </a:lnTo>
                <a:lnTo>
                  <a:pt x="15241678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8" b="-92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30328" y="504830"/>
            <a:ext cx="1836097" cy="704841"/>
          </a:xfrm>
          <a:custGeom>
            <a:avLst/>
            <a:gdLst/>
            <a:ahLst/>
            <a:cxnLst/>
            <a:rect l="l" t="t" r="r" b="b"/>
            <a:pathLst>
              <a:path w="1836097" h="704841">
                <a:moveTo>
                  <a:pt x="0" y="0"/>
                </a:moveTo>
                <a:lnTo>
                  <a:pt x="1836098" y="0"/>
                </a:lnTo>
                <a:lnTo>
                  <a:pt x="1836098" y="704840"/>
                </a:lnTo>
                <a:lnTo>
                  <a:pt x="0" y="704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619576" y="352891"/>
            <a:ext cx="1193491" cy="942858"/>
          </a:xfrm>
          <a:custGeom>
            <a:avLst/>
            <a:gdLst/>
            <a:ahLst/>
            <a:cxnLst/>
            <a:rect l="l" t="t" r="r" b="b"/>
            <a:pathLst>
              <a:path w="1193491" h="942858">
                <a:moveTo>
                  <a:pt x="0" y="0"/>
                </a:moveTo>
                <a:lnTo>
                  <a:pt x="1193491" y="0"/>
                </a:lnTo>
                <a:lnTo>
                  <a:pt x="1193491" y="942858"/>
                </a:lnTo>
                <a:lnTo>
                  <a:pt x="0" y="942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905000" y="3223260"/>
            <a:ext cx="9425940" cy="1603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403"/>
              </a:lnSpc>
            </a:pPr>
            <a:r>
              <a:rPr lang="en-US" sz="11174" b="1" dirty="0">
                <a:solidFill>
                  <a:srgbClr val="FFFFFF"/>
                </a:solidFill>
                <a:latin typeface="BR Omega VN 2 Bold"/>
                <a:ea typeface="BR Omega VN 2 Bold"/>
                <a:cs typeface="BR Omega VN 2 Bold"/>
                <a:sym typeface="BR Omega VN 2 Bold"/>
              </a:rPr>
              <a:t>THANK YOU!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82750" y="766762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  <p:sp>
        <p:nvSpPr>
          <p:cNvPr id="7" name="Freeform 7"/>
          <p:cNvSpPr/>
          <p:nvPr/>
        </p:nvSpPr>
        <p:spPr>
          <a:xfrm>
            <a:off x="1905000" y="5063490"/>
            <a:ext cx="11012200" cy="1920240"/>
          </a:xfrm>
          <a:custGeom>
            <a:avLst/>
            <a:gdLst/>
            <a:ahLst/>
            <a:cxnLst/>
            <a:rect l="l" t="t" r="r" b="b"/>
            <a:pathLst>
              <a:path w="11012200" h="2903216">
                <a:moveTo>
                  <a:pt x="0" y="0"/>
                </a:moveTo>
                <a:lnTo>
                  <a:pt x="11012200" y="0"/>
                </a:lnTo>
                <a:lnTo>
                  <a:pt x="11012200" y="2903216"/>
                </a:lnTo>
                <a:lnTo>
                  <a:pt x="0" y="2903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449359" y="5450842"/>
            <a:ext cx="10342959" cy="108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🎉 Ready to Build Amazing AI Tools?</a:t>
            </a:r>
          </a:p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Let's turn your repetitive tasks into automated solutions!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d22854-e306-478f-bdc8-d341a49ba7cf" xsi:nil="true"/>
    <lcf76f155ced4ddcb4097134ff3c332f xmlns="fdf7c76c-27fb-4e64-a31b-b327cd9dae2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8CF09F394974384566E65EE47413A" ma:contentTypeVersion="14" ma:contentTypeDescription="Create a new document." ma:contentTypeScope="" ma:versionID="c6d78710b4f2cee081392a27cf5a4d7f">
  <xsd:schema xmlns:xsd="http://www.w3.org/2001/XMLSchema" xmlns:xs="http://www.w3.org/2001/XMLSchema" xmlns:p="http://schemas.microsoft.com/office/2006/metadata/properties" xmlns:ns2="fdf7c76c-27fb-4e64-a31b-b327cd9dae2a" xmlns:ns3="14d22854-e306-478f-bdc8-d341a49ba7cf" targetNamespace="http://schemas.microsoft.com/office/2006/metadata/properties" ma:root="true" ma:fieldsID="66fe714d580a602d1fa2de693afc7a8a" ns2:_="" ns3:_="">
    <xsd:import namespace="fdf7c76c-27fb-4e64-a31b-b327cd9dae2a"/>
    <xsd:import namespace="14d22854-e306-478f-bdc8-d341a49ba7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7c76c-27fb-4e64-a31b-b327cd9da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d22854-e306-478f-bdc8-d341a49ba7c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ea1e68-4573-45f1-999c-2bd3829cc08b}" ma:internalName="TaxCatchAll" ma:showField="CatchAllData" ma:web="14d22854-e306-478f-bdc8-d341a49ba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9A1AD9-7AE6-4304-AA7D-F1780E33B008}">
  <ds:schemaRefs>
    <ds:schemaRef ds:uri="http://schemas.microsoft.com/office/infopath/2007/PartnerControls"/>
    <ds:schemaRef ds:uri="http://www.w3.org/XML/1998/namespace"/>
    <ds:schemaRef ds:uri="http://purl.org/dc/terms/"/>
    <ds:schemaRef ds:uri="14d22854-e306-478f-bdc8-d341a49ba7cf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fdf7c76c-27fb-4e64-a31b-b327cd9dae2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A2A90F9-228D-47DA-9B4D-5D720EC4301D}">
  <ds:schemaRefs>
    <ds:schemaRef ds:uri="14d22854-e306-478f-bdc8-d341a49ba7cf"/>
    <ds:schemaRef ds:uri="fdf7c76c-27fb-4e64-a31b-b327cd9dae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FC07E6-5474-4A6F-8FBB-7F1115CC998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273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 AI TRAINING</dc:title>
  <cp:lastModifiedBy>Tam Nguyen Ngoc</cp:lastModifiedBy>
  <cp:revision>38</cp:revision>
  <dcterms:created xsi:type="dcterms:W3CDTF">2006-08-16T00:00:00Z</dcterms:created>
  <dcterms:modified xsi:type="dcterms:W3CDTF">2025-07-05T02:12:35Z</dcterms:modified>
  <dc:identifier>DAGp1Hm18l4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0x0101004528CF09F394974384566E65EE47413A</vt:lpwstr>
  </property>
  <property fmtid="{D5CDD505-2E9C-101B-9397-08002B2CF9AE}" pid="3" name="MediaServiceImageTags">
    <vt:lpwstr/>
  </property>
</Properties>
</file>